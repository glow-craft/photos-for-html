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1" r:id="rId1"/>
  </p:sldMasterIdLst>
  <p:notesMasterIdLst>
    <p:notesMasterId r:id="rId26"/>
  </p:notesMasterIdLst>
  <p:handoutMasterIdLst>
    <p:handoutMasterId r:id="rId27"/>
  </p:handoutMasterIdLst>
  <p:sldIdLst>
    <p:sldId id="324" r:id="rId2"/>
    <p:sldId id="326" r:id="rId3"/>
    <p:sldId id="327" r:id="rId4"/>
    <p:sldId id="335" r:id="rId5"/>
    <p:sldId id="282" r:id="rId6"/>
    <p:sldId id="329" r:id="rId7"/>
    <p:sldId id="333" r:id="rId8"/>
    <p:sldId id="332" r:id="rId9"/>
    <p:sldId id="338" r:id="rId10"/>
    <p:sldId id="337" r:id="rId11"/>
    <p:sldId id="336" r:id="rId12"/>
    <p:sldId id="339" r:id="rId13"/>
    <p:sldId id="345" r:id="rId14"/>
    <p:sldId id="347" r:id="rId15"/>
    <p:sldId id="341" r:id="rId16"/>
    <p:sldId id="342" r:id="rId17"/>
    <p:sldId id="348" r:id="rId18"/>
    <p:sldId id="349" r:id="rId19"/>
    <p:sldId id="350" r:id="rId20"/>
    <p:sldId id="353" r:id="rId21"/>
    <p:sldId id="354" r:id="rId22"/>
    <p:sldId id="355" r:id="rId23"/>
    <p:sldId id="357" r:id="rId24"/>
    <p:sldId id="360" r:id="rId25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FB551-1772-48E8-9E0C-1A0D747ACA6C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3B9F1-0AA1-4C7D-9E60-7FB21EA0D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91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57CF36E-B163-4B13-88E2-A151566BDEDD}" type="datetimeFigureOut">
              <a:rPr lang="en-IN" smtClean="0"/>
              <a:pPr/>
              <a:t>30-05-2025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525463"/>
            <a:ext cx="35052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37373D1-4CD9-4186-81E7-82FBA92CF37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050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5180" indent="-286608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6431" indent="-229286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5003" indent="-229286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63576" indent="-229286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22148" indent="-2292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80721" indent="-2292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39293" indent="-2292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97866" indent="-22928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fld id="{F0936A63-719B-4F8C-8D36-C3DB45E620CD}" type="slidenum">
              <a:rPr lang="en-US" altLang="en-US" smtClean="0"/>
              <a:pPr/>
              <a:t>5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411182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57D00-4390-470B-B5DE-2BA76C4F6D8D}" type="datetime1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9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2A3A4-7631-42DA-B6E0-D1DEF15B8DBC}" type="datetime1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4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0ABC8-20D7-465E-9B55-0D2EE2FC3E9A}" type="datetime1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433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06D75-8CAC-4D36-8E5F-C0CBCAAED787}" type="datetime1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51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D876-E212-4266-97C4-B7DFC5AA5DF2}" type="datetime1">
              <a:rPr lang="en-IN" smtClean="0"/>
              <a:t>30-05-2025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18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8F70-77D9-46E4-82F6-728573E5C0A0}" type="datetime1">
              <a:rPr lang="en-IN" smtClean="0"/>
              <a:t>30-05-2025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67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013D-B102-4D91-8120-CA9BEB08D7C8}" type="datetime1">
              <a:rPr lang="en-IN" smtClean="0"/>
              <a:t>30-05-2025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70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C8BDC-0098-4DA8-9639-287DE3D6E42D}" type="datetime1">
              <a:rPr lang="en-IN" smtClean="0"/>
              <a:t>30-05-2025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70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7C620-57C4-431B-8261-2A29FBF1FCD2}" type="datetime1">
              <a:rPr lang="en-IN" smtClean="0"/>
              <a:t>30-05-2025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AA711-F02C-46B9-933E-0BABD02BBB45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4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23" r:id="rId2"/>
    <p:sldLayoutId id="2147484024" r:id="rId3"/>
    <p:sldLayoutId id="2147484025" r:id="rId4"/>
    <p:sldLayoutId id="2147484026" r:id="rId5"/>
    <p:sldLayoutId id="2147484027" r:id="rId6"/>
    <p:sldLayoutId id="2147484028" r:id="rId7"/>
    <p:sldLayoutId id="2147484029" r:id="rId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Arial Black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92" y="1340768"/>
            <a:ext cx="8064896" cy="4965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1032" y="5445224"/>
            <a:ext cx="8712968" cy="151216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  <a:defRPr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Lucida Sans" pitchFamily="34" charset="0"/>
              </a:rPr>
              <a:t>By</a:t>
            </a:r>
          </a:p>
          <a:p>
            <a:pPr>
              <a:lnSpc>
                <a:spcPct val="170000"/>
              </a:lnSpc>
              <a:defRPr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Lucida Sans" pitchFamily="34" charset="0"/>
              </a:rPr>
              <a:t>Hussain Bux Soomro</a:t>
            </a:r>
          </a:p>
          <a:p>
            <a:pPr>
              <a:lnSpc>
                <a:spcPct val="170000"/>
              </a:lnSpc>
              <a:defRPr/>
            </a:pP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Lucida Sans" pitchFamily="34" charset="0"/>
              </a:rPr>
              <a:t>LECTURER </a:t>
            </a:r>
            <a:r>
              <a:rPr lang="en-US" sz="2800" b="1" dirty="0" smtClean="0">
                <a:solidFill>
                  <a:schemeClr val="tx1">
                    <a:lumMod val="75000"/>
                  </a:schemeClr>
                </a:solidFill>
                <a:latin typeface="Lucida Sans" pitchFamily="34" charset="0"/>
              </a:rPr>
              <a:t>CON (</a:t>
            </a:r>
            <a:r>
              <a:rPr lang="en-US" sz="2800" b="1" dirty="0">
                <a:solidFill>
                  <a:schemeClr val="tx1">
                    <a:lumMod val="75000"/>
                  </a:schemeClr>
                </a:solidFill>
                <a:latin typeface="Lucida Sans" pitchFamily="34" charset="0"/>
              </a:rPr>
              <a:t>F</a:t>
            </a:r>
            <a:r>
              <a:rPr lang="en-US" sz="2800" b="1" dirty="0" smtClean="0">
                <a:solidFill>
                  <a:schemeClr val="tx1">
                    <a:lumMod val="75000"/>
                  </a:schemeClr>
                </a:solidFill>
                <a:latin typeface="Lucida Sans" pitchFamily="34" charset="0"/>
              </a:rPr>
              <a:t>) SHIKARPUR</a:t>
            </a:r>
            <a:endParaRPr lang="en-US" sz="2800" b="1" dirty="0">
              <a:solidFill>
                <a:schemeClr val="tx1">
                  <a:lumMod val="75000"/>
                </a:schemeClr>
              </a:solidFill>
              <a:latin typeface="Lucida Sans" pitchFamily="34" charset="0"/>
            </a:endParaRPr>
          </a:p>
          <a:p>
            <a:endParaRPr lang="en-US" altLang="en-US" b="1" dirty="0" smtClean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7624" y="4286256"/>
            <a:ext cx="6984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en-US" b="1" dirty="0" smtClean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endParaRPr lang="en-US" altLang="en-US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332656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 Black" pitchFamily="34" charset="0"/>
              </a:rPr>
              <a:t>Continue unit - 2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4862" y="693607"/>
            <a:ext cx="79902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 Black" pitchFamily="34" charset="0"/>
                <a:cs typeface="Arial" pitchFamily="34" charset="0"/>
              </a:rPr>
              <a:t>Pulmonary arterial pressure monitoring </a:t>
            </a:r>
            <a:endParaRPr lang="en-US" sz="2800" dirty="0">
              <a:latin typeface="Arial Black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43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660066"/>
                </a:solidFill>
                <a:cs typeface="Arial" pitchFamily="34" charset="0"/>
              </a:rPr>
              <a:t>Pulmonary </a:t>
            </a:r>
            <a:r>
              <a:rPr lang="en-US" dirty="0" smtClean="0">
                <a:solidFill>
                  <a:srgbClr val="660066"/>
                </a:solidFill>
                <a:cs typeface="Arial" pitchFamily="34" charset="0"/>
              </a:rPr>
              <a:t>Arterial Pressure Monitoring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58326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/>
              <a:t>Pulmonary Arterial Pressure (PAP) Monitoring is a critical procedure used to assess right heart function and pulmonary circulation. It is commonly done using a pulmonary artery catheter (PAC), also called a Swan-</a:t>
            </a:r>
            <a:r>
              <a:rPr lang="en-US" dirty="0" err="1" smtClean="0"/>
              <a:t>Ganz</a:t>
            </a:r>
            <a:r>
              <a:rPr lang="en-US" dirty="0" smtClean="0"/>
              <a:t> catheter.</a:t>
            </a:r>
          </a:p>
          <a:p>
            <a:pPr marL="457200">
              <a:lnSpc>
                <a:spcPct val="170000"/>
              </a:lnSpc>
              <a:buFont typeface="Wingdings" pitchFamily="2" charset="2"/>
              <a:buChar char="q"/>
            </a:pPr>
            <a:r>
              <a:rPr lang="en-US" dirty="0" smtClean="0"/>
              <a:t>The Swan-</a:t>
            </a:r>
            <a:r>
              <a:rPr lang="en-US" dirty="0" err="1" smtClean="0"/>
              <a:t>Ganz</a:t>
            </a:r>
            <a:r>
              <a:rPr lang="en-US" dirty="0" smtClean="0"/>
              <a:t> catheter is synonymous with a pulmonary artery catheterization. It was named in honor of its inventors who were Jeremy Swan and William Ganz from Cedars-Sinai Medical Center in 1970.</a:t>
            </a:r>
          </a:p>
          <a:p>
            <a:pPr marL="457200">
              <a:lnSpc>
                <a:spcPct val="170000"/>
              </a:lnSpc>
              <a:buFont typeface="Wingdings" pitchFamily="2" charset="2"/>
              <a:buChar char="q"/>
            </a:pPr>
            <a:r>
              <a:rPr lang="en-US" dirty="0" smtClean="0"/>
              <a:t>The catheters size range from 60 to 110 cm in length and 4F to 8F in caliber</a:t>
            </a:r>
            <a:endParaRPr lang="en-US" altLang="en-US" dirty="0" smtClean="0"/>
          </a:p>
          <a:p>
            <a:pPr marL="457200">
              <a:lnSpc>
                <a:spcPct val="170000"/>
              </a:lnSpc>
              <a:buFont typeface="Wingdings" pitchFamily="2" charset="2"/>
              <a:buChar char="q"/>
            </a:pPr>
            <a:r>
              <a:rPr lang="en-US" altLang="en-US" dirty="0" smtClean="0"/>
              <a:t>Inserted </a:t>
            </a:r>
            <a:r>
              <a:rPr lang="en-US" altLang="en-US" dirty="0" err="1" smtClean="0"/>
              <a:t>percutaneously</a:t>
            </a:r>
            <a:r>
              <a:rPr lang="en-US" altLang="en-US" dirty="0" smtClean="0"/>
              <a:t> into a major vein (jugular, </a:t>
            </a:r>
            <a:r>
              <a:rPr lang="en-US" altLang="en-US" dirty="0" err="1" smtClean="0"/>
              <a:t>subclavian</a:t>
            </a:r>
            <a:r>
              <a:rPr lang="en-US" altLang="en-US" dirty="0" smtClean="0"/>
              <a:t>, femoral) via an introducer sheath. </a:t>
            </a:r>
          </a:p>
          <a:p>
            <a:pPr marL="457200">
              <a:lnSpc>
                <a:spcPct val="170000"/>
              </a:lnSpc>
              <a:buFont typeface="Wingdings" pitchFamily="2" charset="2"/>
              <a:buChar char="q"/>
            </a:pPr>
            <a:r>
              <a:rPr lang="en-US" altLang="en-US" dirty="0" smtClean="0"/>
              <a:t>Passage is easier when the patient is placed flat or slightly upright.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 smtClean="0"/>
          </a:p>
          <a:p>
            <a:pPr marL="0" indent="0">
              <a:buNone/>
            </a:pPr>
            <a:endParaRPr lang="en-US" b="1" dirty="0" smtClean="0"/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89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1132616"/>
            <a:ext cx="5076056" cy="496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Indications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2736"/>
            <a:ext cx="4644008" cy="5073427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/>
              <a:t>Diagnosis and management of pulmonary hypertension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/>
              <a:t>Assessing heart failure severity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/>
              <a:t>Monitoring patients with shock (cardiogenic, septic, etc.)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/>
              <a:t>Guiding fluid and vasopressor therapy in critically ill patients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 smtClean="0"/>
              <a:t>Evaluating right ventricular function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altLang="en-US" dirty="0" smtClean="0"/>
              <a:t>Hemodynamic instability after cardiac surgery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029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CONTRAINDICATIONS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sz="2400" dirty="0" smtClean="0"/>
              <a:t>Tricuspid or pulmonary valve mechanical prosthesis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en-US" sz="2400" dirty="0" smtClean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sz="2400" dirty="0" smtClean="0"/>
              <a:t>Right heart mass (thrombus and/or tumor) 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en-US" sz="2400" dirty="0" smtClean="0"/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ü"/>
            </a:pPr>
            <a:r>
              <a:rPr lang="en-US" altLang="en-US" sz="2400" dirty="0" smtClean="0"/>
              <a:t>Tricuspid or pulmonary valve endocarditis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515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Pulmonary artery catheter (swan ganz catheter)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6" name="Picture 2" descr="Proper Insertion and Use of a Pulmonary Artery Catheter -- BAVLS - YouTub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700808"/>
            <a:ext cx="4427984" cy="468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:\Users\saleema.allana\Desktop\519px-Pulmonary_artery_catheter_english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512" y="1340768"/>
            <a:ext cx="4968552" cy="51481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6741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432048"/>
          </a:xfrm>
          <a:ln w="28575">
            <a:noFill/>
          </a:ln>
        </p:spPr>
        <p:txBody>
          <a:bodyPr>
            <a:noAutofit/>
          </a:bodyPr>
          <a:lstStyle/>
          <a:p>
            <a:r>
              <a:rPr lang="en-US" sz="2000" dirty="0"/>
              <a:t>Pulmonary artery catheter 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(</a:t>
            </a:r>
            <a:r>
              <a:rPr lang="en-US" sz="2000" dirty="0"/>
              <a:t>swan ganz </a:t>
            </a:r>
            <a:r>
              <a:rPr lang="en-US" sz="2000" dirty="0" smtClean="0"/>
              <a:t>catheter)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867980"/>
              </p:ext>
            </p:extLst>
          </p:nvPr>
        </p:nvGraphicFramePr>
        <p:xfrm>
          <a:off x="179512" y="908721"/>
          <a:ext cx="8696404" cy="56197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38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Lumen (Port)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Color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Location</a:t>
                      </a:r>
                      <a:endParaRPr lang="en-US" sz="16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Function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36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Proximal Lumen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Blue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Right Atrium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Measures Central Venous Pressure (CVP) </a:t>
                      </a:r>
                      <a:b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Used for fluid/medication administration </a:t>
                      </a:r>
                      <a:b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Injects cold saline for cardiac output measurement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1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Distal Lumen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Yellow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Pulmonary Artery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Measures Pulmonary Artery Pressure (PAP) </a:t>
                      </a:r>
                      <a:b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Used for Mixed Venous Oxygen Saturation (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SvO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₂) monitoring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26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Balloon Lumen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Red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Pulmonary Artery (Balloon Tip)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Inflates balloon for Pulmonary Artery Wedge Pressure (PAWP) measurement </a:t>
                      </a:r>
                      <a:b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Helps in catheter advancement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1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Thermistor Lumen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Near Distal Lumen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Measures blood temperature </a:t>
                      </a:r>
                      <a:b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</a:b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- Used for cardiac output measurement via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thermodilution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129" marR="9129" marT="9129" marB="91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047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Transducers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Setup for Pressure Monitoring</a:t>
            </a:r>
            <a:br>
              <a:rPr lang="en-US" b="1" dirty="0">
                <a:latin typeface="Arial" pitchFamily="34" charset="0"/>
                <a:cs typeface="Arial" pitchFamily="34" charset="0"/>
              </a:rPr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7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559963" y="980728"/>
            <a:ext cx="8136904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Pressure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Transducer:</a:t>
            </a: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The ports (proximal, distal, and balloon) are connected to pressure transducers, which convert pressure into electrical signals.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rial" pitchFamily="34" charset="0"/>
                <a:cs typeface="Arial" pitchFamily="34" charset="0"/>
              </a:rPr>
              <a:t>Cardiac Output:</a:t>
            </a: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The thermistor lumen is connected to a monitoring system that calculates cardiac output based on the temperature change from the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thermodilution</a:t>
            </a:r>
            <a:r>
              <a:rPr lang="en-US" dirty="0">
                <a:latin typeface="Arial" pitchFamily="34" charset="0"/>
                <a:cs typeface="Arial" pitchFamily="34" charset="0"/>
              </a:rPr>
              <a:t> method.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rial" pitchFamily="34" charset="0"/>
                <a:cs typeface="Arial" pitchFamily="34" charset="0"/>
              </a:rPr>
              <a:t>Display on Monitor:</a:t>
            </a:r>
            <a:r>
              <a:rPr lang="en-US" dirty="0">
                <a:latin typeface="Arial" pitchFamily="34" charset="0"/>
                <a:cs typeface="Arial" pitchFamily="34" charset="0"/>
              </a:rPr>
              <a:t/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These measurements (CVP, PAP, PAWP, CO) are displayed on the monitor, and the readings are continuously updated, allowing clinicians to adjust treatment as needed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4745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8</a:t>
            </a:fld>
            <a:endParaRPr lang="en-IN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355383"/>
              </p:ext>
            </p:extLst>
          </p:nvPr>
        </p:nvGraphicFramePr>
        <p:xfrm>
          <a:off x="251520" y="980726"/>
          <a:ext cx="8640960" cy="5291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6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06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Measurement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Normal Range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Purpose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CVP (Central Venous Pressure)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2-8 mmHg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Assesses fluid status, diagnoses heart failure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PAP (Pulmonary Artery Pressure)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Systolic 15-30 mmHg, Diastolic 8-15 mmHg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Monitors lung pressure, detects pulmonary hypertension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PAWP (Pulmonary Artery Wedge Pressure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OR </a:t>
                      </a:r>
                      <a:r>
                        <a:rPr lang="en-US" sz="1200" dirty="0" smtClean="0"/>
                        <a:t> </a:t>
                      </a:r>
                      <a:r>
                        <a:rPr 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Pulmonary Capillary Wedge Pressure (PCWP) 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6-12 mmHg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Assesses left </a:t>
                      </a:r>
                      <a:r>
                        <a:rPr lang="en-US" altLang="en-US" sz="1200" b="1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atrial pressure (LAP) because we cannot measure the LAP directly</a:t>
                      </a:r>
                    </a:p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, </a:t>
                      </a: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detects pulmonary edema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Cardiac Output (CO)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4-8 L/min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Evaluates heart function and pumping capacity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SVR (Systemic Vascular Resistance)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900-1400 dynes/sec/cm⁵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Determines blood vessel constriction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6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SvO₂ (Mixed Venous Oxygen Saturation)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60-80%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Measures tissue oxygen delivery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59632" y="332656"/>
            <a:ext cx="69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Arial Black" pitchFamily="34" charset="0"/>
              </a:rPr>
              <a:t>Normal ranges of parameters</a:t>
            </a:r>
            <a:endParaRPr lang="en-US" b="1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41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088391"/>
              </p:ext>
            </p:extLst>
          </p:nvPr>
        </p:nvGraphicFramePr>
        <p:xfrm>
          <a:off x="29856" y="548680"/>
          <a:ext cx="10441160" cy="5949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Document" r:id="rId3" imgW="5826781" imgH="4435430" progId="Word.Document.12">
                  <p:embed/>
                </p:oleObj>
              </mc:Choice>
              <mc:Fallback>
                <p:oleObj name="Document" r:id="rId3" imgW="5826781" imgH="44354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56" y="548680"/>
                        <a:ext cx="10441160" cy="5949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288032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Cardiac output monitoring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669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dirty="0"/>
              <a:t>Nursing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964488" cy="521744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 </a:t>
            </a:r>
            <a:r>
              <a:rPr lang="en-US" sz="2000" dirty="0"/>
              <a:t>Confirm catheter placement using a chest X-ray (to check for complications like pneumothorax).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Follow </a:t>
            </a:r>
            <a:r>
              <a:rPr lang="en-US" sz="2000" dirty="0"/>
              <a:t>strict aseptic technique during care and dressing </a:t>
            </a:r>
            <a:r>
              <a:rPr lang="en-US" sz="2000" dirty="0" smtClean="0"/>
              <a:t>changes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Interpret waveforms to assess fluid status, heart function, and response to treatment.</a:t>
            </a:r>
            <a:endParaRPr lang="en-US" sz="2000" dirty="0" smtClean="0"/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Air </a:t>
            </a:r>
            <a:r>
              <a:rPr lang="en-US" sz="2000" dirty="0"/>
              <a:t>Embolism: Ensure all connections are secure and no air enters the system</a:t>
            </a:r>
            <a:r>
              <a:rPr lang="en-US" sz="20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Thrombus </a:t>
            </a:r>
            <a:r>
              <a:rPr lang="en-US" sz="2000" dirty="0"/>
              <a:t>Formation: Flush the catheter with heparinized saline as per protocol</a:t>
            </a:r>
            <a:r>
              <a:rPr lang="en-US" sz="2000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Arrhythmias</a:t>
            </a:r>
            <a:r>
              <a:rPr lang="en-US" sz="2000" dirty="0"/>
              <a:t>: Monitor ECG for any dysrhythmias caused by catheter </a:t>
            </a:r>
            <a:r>
              <a:rPr lang="en-US" sz="2000" dirty="0" smtClean="0"/>
              <a:t>movement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200" dirty="0" smtClean="0"/>
              <a:t>Have </a:t>
            </a:r>
            <a:r>
              <a:rPr lang="en-US" sz="2200" dirty="0"/>
              <a:t>the patient hold their breath during </a:t>
            </a:r>
            <a:r>
              <a:rPr lang="en-US" sz="2200" dirty="0" smtClean="0"/>
              <a:t>removal of catheter </a:t>
            </a:r>
            <a:r>
              <a:rPr lang="en-US" sz="2200" dirty="0"/>
              <a:t>to prevent air embolism</a:t>
            </a:r>
            <a:r>
              <a:rPr lang="en-US" sz="1800" dirty="0"/>
              <a:t>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589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3" name="Picture 2" descr="C:\Users\ASAD\Desktop\Nadira 123\IMG-20221112-WA001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3620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8858250" cy="673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5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1994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Arial Black" pitchFamily="34" charset="0"/>
              </a:rPr>
              <a:t>IABP (INTRA-AORTIC BALLOON PUMP)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24936" cy="512784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An intra-aortic balloon pump(IABP) is a type of therapeutic device.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It helps your heart pump more blood. You may need it, if your heart is unable to pump enough blood for your body. 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IABP gives temporary support for the left ventricle by mechanically displacing blood within the aorta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lnSpc>
                <a:spcPct val="170000"/>
              </a:lnSpc>
              <a:buFont typeface="Wingdings" pitchFamily="2" charset="2"/>
              <a:buChar char="q"/>
            </a:pPr>
            <a:r>
              <a:rPr lang="en-US" sz="2800" dirty="0"/>
              <a:t>it is consist of two parts : a balloon inserted into the aorta, one of the large arteries though which blood passes from the heart to the rest of the body , and a machine/ console outside the body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630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4" y="116632"/>
            <a:ext cx="9107295" cy="6552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9261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108858"/>
            <a:ext cx="8885464" cy="662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49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3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24" y="136071"/>
            <a:ext cx="8715475" cy="64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145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3" name="Picture 2" descr="C:\Users\ASAD\Desktop\Nadira 123\IMG_20221112_2300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5576" y="1067823"/>
            <a:ext cx="7740352" cy="5805264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699792" y="548680"/>
            <a:ext cx="360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 Black" pitchFamily="34" charset="0"/>
              </a:rPr>
              <a:t>Hemodynamic monitor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95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itle 1"/>
          <p:cNvSpPr>
            <a:spLocks noGrp="1"/>
          </p:cNvSpPr>
          <p:nvPr>
            <p:ph type="title"/>
          </p:nvPr>
        </p:nvSpPr>
        <p:spPr>
          <a:xfrm>
            <a:off x="2555776" y="116632"/>
            <a:ext cx="3456384" cy="576064"/>
          </a:xfrm>
          <a:ln w="127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latin typeface="Arial Black" pitchFamily="34" charset="0"/>
              </a:rPr>
              <a:t>IABP </a:t>
            </a:r>
            <a:r>
              <a:rPr lang="en-US" sz="2000" dirty="0">
                <a:solidFill>
                  <a:schemeClr val="tx2">
                    <a:lumMod val="50000"/>
                  </a:schemeClr>
                </a:solidFill>
                <a:latin typeface="Arial Black" pitchFamily="34" charset="0"/>
              </a:rPr>
              <a:t>Purposes</a:t>
            </a:r>
          </a:p>
        </p:txBody>
      </p:sp>
      <p:sp>
        <p:nvSpPr>
          <p:cNvPr id="1048621" name="Content Placeholder 2"/>
          <p:cNvSpPr>
            <a:spLocks noGrp="1"/>
          </p:cNvSpPr>
          <p:nvPr>
            <p:ph idx="1"/>
          </p:nvPr>
        </p:nvSpPr>
        <p:spPr>
          <a:xfrm>
            <a:off x="539552" y="764704"/>
            <a:ext cx="8305800" cy="1656184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increase myocardial oxygen supply.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To decrease myocardial oxygen demand.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To improve cardiac out put.</a:t>
            </a:r>
          </a:p>
          <a:p>
            <a:pPr>
              <a:lnSpc>
                <a:spcPct val="150000"/>
              </a:lnSpc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555776" y="2627406"/>
            <a:ext cx="3600400" cy="58557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dirty="0" smtClean="0"/>
              <a:t>Indication </a:t>
            </a:r>
            <a:endParaRPr lang="en-US" sz="36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11560" y="3573015"/>
            <a:ext cx="8229600" cy="22855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Severe Angina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Cardiogenic shock after MI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Left ventricular failure after cardiac surgery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/>
              <a:t>Angioplasty /bypass failure </a:t>
            </a:r>
          </a:p>
          <a:p>
            <a:pPr>
              <a:lnSpc>
                <a:spcPct val="150000"/>
              </a:lnSpc>
              <a:buFont typeface="Arial" pitchFamily="34" charset="0"/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50773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980728"/>
            <a:ext cx="8229600" cy="233285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Aortic valve insufficiency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Severe peripheral vascular occlusive disease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Any previous </a:t>
            </a:r>
            <a:r>
              <a:rPr lang="en-US" sz="2000" dirty="0" err="1"/>
              <a:t>aortofemoral</a:t>
            </a:r>
            <a:r>
              <a:rPr lang="en-US" sz="2000" dirty="0"/>
              <a:t> or </a:t>
            </a:r>
            <a:r>
              <a:rPr lang="en-US" sz="2000" dirty="0" err="1"/>
              <a:t>aortoilliac</a:t>
            </a:r>
            <a:r>
              <a:rPr lang="en-US" sz="2000" dirty="0"/>
              <a:t> bypass graft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/>
              <a:t>Aortic dissection  </a:t>
            </a:r>
          </a:p>
          <a:p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267744" y="260648"/>
            <a:ext cx="4474840" cy="490066"/>
          </a:xfrm>
          <a:ln w="127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2200" dirty="0">
                <a:latin typeface="Arial Black" pitchFamily="34" charset="0"/>
              </a:rPr>
              <a:t>Contraindications</a:t>
            </a:r>
            <a:r>
              <a:rPr lang="en-US" sz="3600" dirty="0">
                <a:latin typeface="Arial Black" pitchFamily="34" charset="0"/>
              </a:rPr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627784" y="3356992"/>
            <a:ext cx="4104456" cy="5760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dirty="0" smtClean="0"/>
              <a:t>Complications 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467544" y="4221088"/>
            <a:ext cx="8064896" cy="18819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Limb ischemia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..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Heparin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induced Platelet destruction.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Aortic dissection or perforation.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Malposition.</a:t>
            </a:r>
          </a:p>
        </p:txBody>
      </p:sp>
    </p:spTree>
    <p:extLst>
      <p:ext uri="{BB962C8B-B14F-4D97-AF65-F5344CB8AC3E}">
        <p14:creationId xmlns:p14="http://schemas.microsoft.com/office/powerpoint/2010/main" val="4091288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Picture 2" descr="C:\Users\ASAD\Desktop\Nadira 123\1668273997512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162" y="0"/>
            <a:ext cx="9144000" cy="68579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772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latin typeface="Arial Black" pitchFamily="34" charset="0"/>
              </a:rPr>
              <a:t>Nursing care</a:t>
            </a:r>
          </a:p>
        </p:txBody>
      </p:sp>
      <p:sp>
        <p:nvSpPr>
          <p:cNvPr id="1048629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 fontScale="81786" lnSpcReduction="10000"/>
          </a:bodyPr>
          <a:lstStyle/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nursing care involves the hemodynamic assessment, fluid balance, positioning and pressure area care, observation of the balloon catheter and line, asses the limb perfusion, neurological status.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Check distal\limb pulses color, temperature, and capillary refill.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Daily platelets monitoring.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Observe insertion site.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Assess cardiac output.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Observe complications.</a:t>
            </a:r>
          </a:p>
          <a:p>
            <a:pPr>
              <a:lnSpc>
                <a:spcPct val="160000"/>
              </a:lnSpc>
              <a:buFont typeface="Wingdings" pitchFamily="2" charset="2"/>
              <a:buChar char="Ø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599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97178" name="Picture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071" y="204107"/>
            <a:ext cx="8776608" cy="6653893"/>
          </a:xfrm>
        </p:spPr>
      </p:pic>
    </p:spTree>
    <p:extLst>
      <p:ext uri="{BB962C8B-B14F-4D97-AF65-F5344CB8AC3E}">
        <p14:creationId xmlns:p14="http://schemas.microsoft.com/office/powerpoint/2010/main" val="3921609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47248" cy="562074"/>
          </a:xfrm>
        </p:spPr>
        <p:txBody>
          <a:bodyPr/>
          <a:lstStyle/>
          <a:p>
            <a:pPr algn="l"/>
            <a:r>
              <a:rPr lang="en-US" dirty="0" smtClean="0"/>
              <a:t>References: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A prospective randomized study comparing surgical and Percutaneous removal of </a:t>
            </a:r>
            <a:r>
              <a:rPr lang="en-US" dirty="0" err="1"/>
              <a:t>Intraaortic</a:t>
            </a:r>
            <a:r>
              <a:rPr lang="en-US" dirty="0"/>
              <a:t> Balloon pumps Michael, j. Rohrer et al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Cardiopulmonary bypass principle and techniques –Amman Jordan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203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A711-F02C-46B9-933E-0BABD02BBB45}" type="slidenum">
              <a:rPr lang="en-IN" smtClean="0"/>
              <a:pPr/>
              <a:t>24</a:t>
            </a:fld>
            <a:endParaRPr lang="en-IN"/>
          </a:p>
        </p:txBody>
      </p:sp>
      <p:pic>
        <p:nvPicPr>
          <p:cNvPr id="4098" name="Picture 2" descr="8,104 Thank You Flower Stock Photos - Free &amp; Royalty-Free Stock Photos from  Dreamsti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40" y="14330"/>
            <a:ext cx="9172540" cy="6843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432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1869</TotalTime>
  <Words>927</Words>
  <Application>Microsoft Office PowerPoint</Application>
  <PresentationFormat>On-screen Show (4:3)</PresentationFormat>
  <Paragraphs>139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Georgia</vt:lpstr>
      <vt:lpstr>Lucida Sans</vt:lpstr>
      <vt:lpstr>Verdana</vt:lpstr>
      <vt:lpstr>Wingdings</vt:lpstr>
      <vt:lpstr>Office Theme</vt:lpstr>
      <vt:lpstr>Document</vt:lpstr>
      <vt:lpstr>PowerPoint Presentation</vt:lpstr>
      <vt:lpstr>Pulmonary Arterial Pressure Monitoring  </vt:lpstr>
      <vt:lpstr>Indications </vt:lpstr>
      <vt:lpstr>CONTRAINDICATIONS</vt:lpstr>
      <vt:lpstr>Pulmonary artery catheter (swan ganz catheter)</vt:lpstr>
      <vt:lpstr>Pulmonary artery catheter  (swan ganz catheter)</vt:lpstr>
      <vt:lpstr>Transducers Setup for Pressure Monitoring </vt:lpstr>
      <vt:lpstr>PowerPoint Presentation</vt:lpstr>
      <vt:lpstr>Cardiac output monitoring</vt:lpstr>
      <vt:lpstr>Nursing considerations</vt:lpstr>
      <vt:lpstr>PowerPoint Presentation</vt:lpstr>
      <vt:lpstr>PowerPoint Presentation</vt:lpstr>
      <vt:lpstr>IABP (INTRA-AORTIC BALLOON PUMP)</vt:lpstr>
      <vt:lpstr>PowerPoint Presentation</vt:lpstr>
      <vt:lpstr>PowerPoint Presentation</vt:lpstr>
      <vt:lpstr>PowerPoint Presentation</vt:lpstr>
      <vt:lpstr>PowerPoint Presentation</vt:lpstr>
      <vt:lpstr>IABP Purposes</vt:lpstr>
      <vt:lpstr>Contraindications </vt:lpstr>
      <vt:lpstr>PowerPoint Presentation</vt:lpstr>
      <vt:lpstr>Nursing care</vt:lpstr>
      <vt:lpstr>PowerPoint Presentation</vt:lpstr>
      <vt:lpstr>References: 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Romina</dc:creator>
  <cp:lastModifiedBy>Asad Computers</cp:lastModifiedBy>
  <cp:revision>97</cp:revision>
  <dcterms:created xsi:type="dcterms:W3CDTF">2015-01-18T10:28:09Z</dcterms:created>
  <dcterms:modified xsi:type="dcterms:W3CDTF">2025-05-30T12:01:57Z</dcterms:modified>
</cp:coreProperties>
</file>