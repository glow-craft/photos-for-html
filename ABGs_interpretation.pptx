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9" r:id="rId2"/>
    <p:sldId id="257" r:id="rId3"/>
    <p:sldId id="266" r:id="rId4"/>
    <p:sldId id="261" r:id="rId5"/>
    <p:sldId id="265" r:id="rId6"/>
    <p:sldId id="298" r:id="rId7"/>
    <p:sldId id="301" r:id="rId8"/>
    <p:sldId id="311" r:id="rId9"/>
    <p:sldId id="312" r:id="rId10"/>
    <p:sldId id="305" r:id="rId11"/>
    <p:sldId id="313" r:id="rId12"/>
    <p:sldId id="314" r:id="rId13"/>
    <p:sldId id="318" r:id="rId14"/>
    <p:sldId id="317" r:id="rId15"/>
    <p:sldId id="308" r:id="rId16"/>
    <p:sldId id="309" r:id="rId17"/>
    <p:sldId id="310" r:id="rId18"/>
    <p:sldId id="315" r:id="rId19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59714-5332-4509-B6C7-6D4BF4F60162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6CFF3-836C-4ABA-8F26-173DDE71A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037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37D1E55-3214-4C5C-A196-65FB221D5281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74C0BDA-A057-455C-94FA-31310C6C8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36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95BE4-19FE-4586-9DC3-30609D66DA28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6902D-9A82-4E5C-9A55-1D7E8D467852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5F2F1-C5B8-4780-BF19-34BBEF442D9E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D558B-455F-4A05-B21F-A72954B3FE1F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E9C7-F6B5-49C3-9FB5-787974D30E38}" type="datetime1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757C-0ECC-4B23-95DB-7D49F8773CA3}" type="datetime1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0911-9343-46B6-A393-1EB91EC89FD3}" type="datetime1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5926-9AA3-4E87-BE1B-AC637DC5E4A6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3CE52-43E9-4274-BAF8-5A23ABD9AA31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8C72-DD23-405F-9F50-D8434857B87A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C1990-0939-4945-BC4A-1405AA86DA94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6ECB-33D3-4114-ABC6-512D03577E69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Arial Black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850" y="4648200"/>
            <a:ext cx="7448550" cy="173355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By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Hussain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Bux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soomro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 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Nursing lecturer @college of Nursing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pperplate Gothic Bold" pitchFamily="34" charset="0"/>
              </a:rPr>
              <a:t>Shikarpur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A.Y.T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8D562A-C2E2-46C6-9AAC-FC1606CB781C}" type="slidenum">
              <a:rPr lang="en-US" altLang="en-US"/>
              <a:pPr>
                <a:defRPr/>
              </a:pPr>
              <a:t>1</a:t>
            </a:fld>
            <a:endParaRPr lang="en-US" altLang="en-US"/>
          </a:p>
        </p:txBody>
      </p:sp>
      <p:pic>
        <p:nvPicPr>
          <p:cNvPr id="133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855"/>
            <a:ext cx="903605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474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133601"/>
            <a:ext cx="3124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cs typeface="Arial" pitchFamily="34" charset="0"/>
                <a:sym typeface="Arial" charset="0"/>
              </a:rPr>
              <a:t>Arterial blood Gas , ABG Monitoring</a:t>
            </a:r>
            <a:endParaRPr lang="en-US" dirty="0"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63246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An Arterial Blood Gas (ABG) test measures the levels of oxygen (O₂), carbon dioxide (CO₂), and pH in arterial blood to assess acid-base balance and respiratory function</a:t>
            </a:r>
            <a:r>
              <a:rPr lang="en-US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Indications of </a:t>
            </a:r>
            <a:r>
              <a:rPr lang="en-US" b="1" dirty="0"/>
              <a:t>ABG Test</a:t>
            </a:r>
            <a:r>
              <a:rPr lang="en-US" b="1" dirty="0" smtClean="0"/>
              <a:t>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Diagnose respiratory disorders (e.g., COPD, asthma</a:t>
            </a:r>
            <a:r>
              <a:rPr lang="en-US" dirty="0" smtClean="0"/>
              <a:t>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Detect </a:t>
            </a:r>
            <a:r>
              <a:rPr lang="en-US" dirty="0"/>
              <a:t>metabolic imbalances (e.g., kidney disease, diabetic ketoacidosis</a:t>
            </a:r>
            <a:r>
              <a:rPr lang="en-US" dirty="0" smtClean="0"/>
              <a:t>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Assess </a:t>
            </a:r>
            <a:r>
              <a:rPr lang="en-US" dirty="0"/>
              <a:t>oxygenation in critical patients (e.g., ICU, ventilator support</a:t>
            </a:r>
            <a:r>
              <a:rPr lang="en-US" dirty="0" smtClean="0"/>
              <a:t>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Checking response of treatments.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7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 descr="http://nutritionalmuscletesting.com/web_images/acid_20base_20balanc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500063"/>
            <a:ext cx="8286750" cy="592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20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rme 3"/>
          <p:cNvSpPr>
            <a:spLocks noGrp="1"/>
          </p:cNvSpPr>
          <p:nvPr>
            <p:ph type="title"/>
          </p:nvPr>
        </p:nvSpPr>
        <p:spPr>
          <a:xfrm>
            <a:off x="428625" y="274638"/>
            <a:ext cx="8258175" cy="796925"/>
          </a:xfrm>
        </p:spPr>
        <p:txBody>
          <a:bodyPr/>
          <a:lstStyle/>
          <a:p>
            <a:r>
              <a:rPr lang="fr-CA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Acid</a:t>
            </a:r>
            <a:r>
              <a:rPr lang="fr-C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Base balance</a:t>
            </a:r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1011CFF-625E-45B2-9130-544E71700AA3}" type="datetime1">
              <a:rPr lang="fr-FR">
                <a:solidFill>
                  <a:srgbClr val="898989"/>
                </a:solidFill>
                <a:latin typeface="Calibri" charset="0"/>
              </a:rPr>
              <a:pPr eaLnBrk="1" hangingPunct="1"/>
              <a:t>30/05/2025</a:t>
            </a:fld>
            <a:endParaRPr lang="fr-CA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570CEC-C7D7-40A0-828D-F4413F28524C}" type="slidenum">
              <a:rPr lang="fr-CA">
                <a:solidFill>
                  <a:srgbClr val="898989"/>
                </a:solidFill>
                <a:latin typeface="Calibri" charset="0"/>
              </a:rPr>
              <a:pPr eaLnBrk="1" hangingPunct="1"/>
              <a:t>4</a:t>
            </a:fld>
            <a:endParaRPr lang="fr-CA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3200400"/>
            <a:ext cx="8610600" cy="29257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fr-CA" dirty="0"/>
              <a:t>The </a:t>
            </a:r>
            <a:r>
              <a:rPr lang="fr-CA" dirty="0" err="1"/>
              <a:t>chemical</a:t>
            </a:r>
            <a:r>
              <a:rPr lang="fr-CA" dirty="0"/>
              <a:t> </a:t>
            </a:r>
            <a:r>
              <a:rPr lang="fr-CA" dirty="0" err="1"/>
              <a:t>reactions</a:t>
            </a:r>
            <a:r>
              <a:rPr lang="fr-CA" dirty="0"/>
              <a:t> </a:t>
            </a:r>
            <a:r>
              <a:rPr lang="fr-CA" dirty="0" err="1"/>
              <a:t>that</a:t>
            </a:r>
            <a:r>
              <a:rPr lang="fr-CA" dirty="0"/>
              <a:t> </a:t>
            </a:r>
            <a:r>
              <a:rPr lang="fr-CA" dirty="0" err="1"/>
              <a:t>sustain</a:t>
            </a:r>
            <a:r>
              <a:rPr lang="fr-CA" dirty="0"/>
              <a:t> life dépend on a délicate balance or </a:t>
            </a:r>
            <a:r>
              <a:rPr lang="fr-CA" dirty="0" err="1"/>
              <a:t>homéostasis</a:t>
            </a:r>
            <a:r>
              <a:rPr lang="fr-CA" dirty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fr-CA" dirty="0"/>
              <a:t>A </a:t>
            </a:r>
            <a:r>
              <a:rPr lang="fr-CA" dirty="0" err="1"/>
              <a:t>slight</a:t>
            </a:r>
            <a:r>
              <a:rPr lang="fr-CA" dirty="0"/>
              <a:t> </a:t>
            </a:r>
            <a:r>
              <a:rPr lang="fr-CA" dirty="0" err="1"/>
              <a:t>imbalance</a:t>
            </a:r>
            <a:r>
              <a:rPr lang="fr-CA" dirty="0"/>
              <a:t> </a:t>
            </a:r>
            <a:r>
              <a:rPr lang="fr-CA" dirty="0" err="1"/>
              <a:t>can</a:t>
            </a:r>
            <a:r>
              <a:rPr lang="fr-CA" dirty="0"/>
              <a:t> </a:t>
            </a:r>
            <a:r>
              <a:rPr lang="fr-CA" dirty="0" err="1"/>
              <a:t>profoundly</a:t>
            </a:r>
            <a:r>
              <a:rPr lang="fr-CA" dirty="0"/>
              <a:t> affect </a:t>
            </a:r>
            <a:r>
              <a:rPr lang="fr-CA" dirty="0" err="1"/>
              <a:t>metabolism</a:t>
            </a:r>
            <a:r>
              <a:rPr lang="fr-CA" dirty="0"/>
              <a:t> and essential body </a:t>
            </a:r>
            <a:r>
              <a:rPr lang="fr-CA" dirty="0" err="1"/>
              <a:t>functions</a:t>
            </a:r>
            <a:r>
              <a:rPr lang="fr-CA" dirty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fr-CA" dirty="0" err="1"/>
              <a:t>Several</a:t>
            </a:r>
            <a:r>
              <a:rPr lang="fr-CA" dirty="0"/>
              <a:t> conditions </a:t>
            </a:r>
            <a:r>
              <a:rPr lang="fr-CA" dirty="0" err="1"/>
              <a:t>such</a:t>
            </a:r>
            <a:r>
              <a:rPr lang="fr-CA" dirty="0"/>
              <a:t> as infection, trauma and médications affect </a:t>
            </a:r>
            <a:r>
              <a:rPr lang="fr-CA" dirty="0" err="1"/>
              <a:t>acid</a:t>
            </a:r>
            <a:r>
              <a:rPr lang="fr-CA" dirty="0"/>
              <a:t> base balance</a:t>
            </a:r>
            <a:endParaRPr lang="en-US" dirty="0"/>
          </a:p>
        </p:txBody>
      </p:sp>
      <p:pic>
        <p:nvPicPr>
          <p:cNvPr id="7" name="Picture 6" descr="C:\Users\bm219715\Desktop\ph-sca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990600"/>
            <a:ext cx="8610600" cy="21066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383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rme 3"/>
          <p:cNvSpPr>
            <a:spLocks noGrp="1"/>
          </p:cNvSpPr>
          <p:nvPr>
            <p:ph type="title"/>
          </p:nvPr>
        </p:nvSpPr>
        <p:spPr>
          <a:xfrm>
            <a:off x="428625" y="152400"/>
            <a:ext cx="8258175" cy="609601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fr-CA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cs typeface="Times New Roman" pitchFamily="18" charset="0"/>
              </a:rPr>
              <a:t>Acid</a:t>
            </a:r>
            <a:r>
              <a:rPr lang="fr-CA" b="1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Times New Roman" pitchFamily="18" charset="0"/>
              </a:rPr>
              <a:t> Base self regulation</a:t>
            </a:r>
          </a:p>
        </p:txBody>
      </p:sp>
      <p:sp>
        <p:nvSpPr>
          <p:cNvPr id="8195" name="Forme 4"/>
          <p:cNvSpPr>
            <a:spLocks noGrp="1"/>
          </p:cNvSpPr>
          <p:nvPr>
            <p:ph idx="1"/>
          </p:nvPr>
        </p:nvSpPr>
        <p:spPr>
          <a:xfrm>
            <a:off x="640663" y="762000"/>
            <a:ext cx="8501062" cy="2057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fr-CA" dirty="0" smtClean="0">
                <a:latin typeface="Arial" charset="0"/>
                <a:cs typeface="Arial" charset="0"/>
              </a:rPr>
              <a:t>In </a:t>
            </a:r>
            <a:r>
              <a:rPr lang="fr-CA" dirty="0" err="1" smtClean="0">
                <a:latin typeface="Arial" charset="0"/>
                <a:cs typeface="Arial" charset="0"/>
              </a:rPr>
              <a:t>order</a:t>
            </a:r>
            <a:r>
              <a:rPr lang="fr-CA" dirty="0" smtClean="0">
                <a:latin typeface="Arial" charset="0"/>
                <a:cs typeface="Arial" charset="0"/>
              </a:rPr>
              <a:t> to </a:t>
            </a:r>
            <a:r>
              <a:rPr lang="fr-CA" dirty="0" err="1" smtClean="0">
                <a:latin typeface="Arial" charset="0"/>
                <a:cs typeface="Arial" charset="0"/>
              </a:rPr>
              <a:t>maintain</a:t>
            </a:r>
            <a:r>
              <a:rPr lang="fr-CA" dirty="0" smtClean="0">
                <a:latin typeface="Arial" charset="0"/>
                <a:cs typeface="Arial" charset="0"/>
              </a:rPr>
              <a:t> PH in normal ranges, body self régulâtes the </a:t>
            </a:r>
            <a:r>
              <a:rPr lang="fr-CA" dirty="0" err="1" smtClean="0">
                <a:latin typeface="Arial" charset="0"/>
                <a:cs typeface="Arial" charset="0"/>
              </a:rPr>
              <a:t>acid</a:t>
            </a:r>
            <a:r>
              <a:rPr lang="fr-CA" dirty="0" smtClean="0">
                <a:latin typeface="Arial" charset="0"/>
                <a:cs typeface="Arial" charset="0"/>
              </a:rPr>
              <a:t> base balance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fr-CA" dirty="0" smtClean="0">
                <a:latin typeface="Arial" charset="0"/>
                <a:cs typeface="Arial" charset="0"/>
              </a:rPr>
              <a:t>It </a:t>
            </a:r>
            <a:r>
              <a:rPr lang="fr-CA" dirty="0" err="1" smtClean="0">
                <a:latin typeface="Arial" charset="0"/>
                <a:cs typeface="Arial" charset="0"/>
              </a:rPr>
              <a:t>is</a:t>
            </a:r>
            <a:r>
              <a:rPr lang="fr-CA" dirty="0" smtClean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done</a:t>
            </a:r>
            <a:r>
              <a:rPr lang="fr-CA" dirty="0" smtClean="0">
                <a:latin typeface="Arial" charset="0"/>
                <a:cs typeface="Arial" charset="0"/>
              </a:rPr>
              <a:t> by the buffer </a:t>
            </a:r>
            <a:r>
              <a:rPr lang="fr-CA" dirty="0" err="1" smtClean="0">
                <a:latin typeface="Arial" charset="0"/>
                <a:cs typeface="Arial" charset="0"/>
              </a:rPr>
              <a:t>mechanism</a:t>
            </a:r>
            <a:r>
              <a:rPr lang="fr-CA" dirty="0" smtClean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between</a:t>
            </a:r>
            <a:r>
              <a:rPr lang="fr-CA" dirty="0" smtClean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respiratory</a:t>
            </a:r>
            <a:r>
              <a:rPr lang="fr-CA" dirty="0" smtClean="0">
                <a:latin typeface="Arial" charset="0"/>
                <a:cs typeface="Arial" charset="0"/>
              </a:rPr>
              <a:t> and rénal </a:t>
            </a:r>
            <a:r>
              <a:rPr lang="fr-CA" dirty="0" err="1" smtClean="0">
                <a:latin typeface="Arial" charset="0"/>
                <a:cs typeface="Arial" charset="0"/>
              </a:rPr>
              <a:t>systems</a:t>
            </a:r>
            <a:endParaRPr lang="fr-CA" dirty="0" smtClean="0">
              <a:latin typeface="Arial" charset="0"/>
              <a:cs typeface="Arial" charset="0"/>
            </a:endParaRPr>
          </a:p>
        </p:txBody>
      </p:sp>
      <p:sp>
        <p:nvSpPr>
          <p:cNvPr id="8196" name="Date Placeholder 4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BD196A2-1128-4604-9C5B-0DA7046AD2E3}" type="datetime1">
              <a:rPr lang="fr-FR">
                <a:solidFill>
                  <a:srgbClr val="898989"/>
                </a:solidFill>
                <a:latin typeface="Calibri" charset="0"/>
              </a:rPr>
              <a:pPr eaLnBrk="1" hangingPunct="1"/>
              <a:t>30/05/2025</a:t>
            </a:fld>
            <a:endParaRPr lang="fr-CA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EA86386-A6DC-4572-8685-3610FBDFCDD9}" type="slidenum">
              <a:rPr lang="fr-CA">
                <a:solidFill>
                  <a:srgbClr val="898989"/>
                </a:solidFill>
                <a:latin typeface="Calibri" charset="0"/>
              </a:rPr>
              <a:pPr eaLnBrk="1" hangingPunct="1"/>
              <a:t>5</a:t>
            </a:fld>
            <a:endParaRPr lang="fr-CA">
              <a:solidFill>
                <a:srgbClr val="898989"/>
              </a:solidFill>
              <a:latin typeface="Calibri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9399"/>
            <a:ext cx="8991600" cy="395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846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941107"/>
              </p:ext>
            </p:extLst>
          </p:nvPr>
        </p:nvGraphicFramePr>
        <p:xfrm>
          <a:off x="228599" y="1417638"/>
          <a:ext cx="8763000" cy="4343401"/>
        </p:xfrm>
        <a:graphic>
          <a:graphicData uri="http://schemas.openxmlformats.org/drawingml/2006/table">
            <a:tbl>
              <a:tblPr firstRow="1" firstCol="1" bandRow="1"/>
              <a:tblGrid>
                <a:gridCol w="1905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Parameter</a:t>
                      </a:r>
                      <a:endParaRPr lang="en-US" sz="1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Normal Range</a:t>
                      </a:r>
                      <a:endParaRPr lang="en-US" sz="14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Function</a:t>
                      </a:r>
                      <a:endParaRPr lang="en-US" sz="1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pH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7.35–7.45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Measures blood acidity or alkalinity.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4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PaCO₂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35–45 mmHg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Measures CO₂ levels, indicating respiratory function.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94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HCO₃⁻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22–26 </a:t>
                      </a:r>
                      <a:r>
                        <a:rPr lang="en-US" sz="1400" b="1" dirty="0" err="1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mEq</a:t>
                      </a: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/L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Measures bicarbonate, showing kidney function in acid-base balance.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PaO₂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80–100 mmHg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Measures oxygen level in blood.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94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O₂ Saturation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95–100%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Indicates oxygen-carrying capacity of hemoglobin.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457200" y="304800"/>
            <a:ext cx="8229600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Key Parameters in ABG Test: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5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dirty="0" smtClean="0"/>
              <a:t>Getting ABG sample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ea typeface="宋体" charset="-122"/>
              </a:rPr>
              <a:t>It is a diagnostic procedure in which a blood is obtained from an artery directly by an arterial puncture or accessed by a way of indwelling arterial catheter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13" descr="C:\Users\Afnan\Desktop\critical labs\critical\ABG_Pic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14600"/>
            <a:ext cx="609600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779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  <p:tav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76200"/>
            <a:ext cx="89154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1. Patient Preparation: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Explain the procedure to the patient.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Check for contraindications (e.g., bleeding disorders, anticoagulant use).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Perform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Allen’s test to check collateral circulation in the radial artery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Equipment Required: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ABG syringe with heparin (to prevent clotting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).</a:t>
            </a:r>
            <a:r>
              <a:rPr lang="en-US" sz="2000" b="1" dirty="0"/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0.05 mL (50 IU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) for 1ml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After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adding heparin, expel all excess heparin from the syringe, leaving only a thin coating inside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 Excess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heparin can cause heparin-induced acidosis, which may affect ABG result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Alcohol swab or antiseptic solution.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Sterile gloves.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 smtClean="0">
                <a:latin typeface="Arial" pitchFamily="34" charset="0"/>
                <a:ea typeface="宋体" charset="-122"/>
                <a:cs typeface="Arial" pitchFamily="34" charset="0"/>
              </a:rPr>
              <a:t>1ml </a:t>
            </a:r>
            <a:r>
              <a:rPr lang="en-US" altLang="en-US" sz="2000" dirty="0">
                <a:latin typeface="Arial" pitchFamily="34" charset="0"/>
                <a:ea typeface="宋体" charset="-122"/>
                <a:cs typeface="Arial" pitchFamily="34" charset="0"/>
              </a:rPr>
              <a:t>syringe </a:t>
            </a:r>
            <a:r>
              <a:rPr lang="en-US" altLang="en-US" sz="2000" dirty="0" smtClean="0">
                <a:latin typeface="Arial" pitchFamily="34" charset="0"/>
                <a:ea typeface="宋体" charset="-122"/>
                <a:cs typeface="Arial" pitchFamily="34" charset="0"/>
              </a:rPr>
              <a:t> is best  ,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Needle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(22-25 gauge).</a:t>
            </a:r>
            <a:r>
              <a:rPr lang="en-US" altLang="en-US" sz="2000" b="1" dirty="0">
                <a:latin typeface="Comic Sans MS" pitchFamily="66" charset="0"/>
                <a:ea typeface="宋体" charset="-122"/>
              </a:rPr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Ice pack (if immediate analysis is not possible).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Gauze and adhesive bandage.</a:t>
            </a:r>
          </a:p>
        </p:txBody>
      </p:sp>
    </p:spTree>
    <p:extLst>
      <p:ext uri="{BB962C8B-B14F-4D97-AF65-F5344CB8AC3E}">
        <p14:creationId xmlns:p14="http://schemas.microsoft.com/office/powerpoint/2010/main" val="175940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Procedure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Common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site: Radial artery (wrist).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Alternative sites: Brachial artery (arm) or Femoral artery (groin).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Clean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the site with an antiseptic solution.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Wear sterile gloves.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Arterial Puncture: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Insert the needle at a 45° angle (radial), 60° angle (brachial), or 90° angle (femoral).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Wait for pulsatile blood flow (indicating arterial access).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Withdraw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1-2 mL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of arterial blood slowly.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Post-Puncture Care: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Remove the needle and apply firm pressure for 5-10 minutes to prevent hematoma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US" altLang="en-US" sz="2000" dirty="0">
                <a:latin typeface="Arial" pitchFamily="34" charset="0"/>
                <a:ea typeface="宋体" charset="-122"/>
                <a:cs typeface="Arial" pitchFamily="34" charset="0"/>
              </a:rPr>
              <a:t> if patient has coagulation abnormalities apply pressure for 10 – 15 </a:t>
            </a:r>
            <a:r>
              <a:rPr lang="en-US" altLang="en-US" sz="2000" dirty="0" smtClean="0">
                <a:latin typeface="Arial" pitchFamily="34" charset="0"/>
                <a:ea typeface="宋体" charset="-122"/>
                <a:cs typeface="Arial" pitchFamily="34" charset="0"/>
              </a:rPr>
              <a:t>minutes,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Apply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 bandage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776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857" y="1311761"/>
            <a:ext cx="5350329" cy="5159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Handling &amp; Transport: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4191000" cy="54864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/>
              <a:t>Expel </a:t>
            </a:r>
            <a:r>
              <a:rPr lang="en-US" dirty="0"/>
              <a:t>air bubbles from the syringe (to avoid false oxygen readings).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Mix the sample gently to prevent clotting.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Place the sample in an ice pack if not analyzed immediately.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Transport to the laboratory within 15-30 minutes.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6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 interpretation Tic-Tac-Toe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281207"/>
              </p:ext>
            </p:extLst>
          </p:nvPr>
        </p:nvGraphicFramePr>
        <p:xfrm>
          <a:off x="152400" y="990601"/>
          <a:ext cx="8915400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11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Disorder</a:t>
                      </a:r>
                      <a:endParaRPr lang="en-US" sz="1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Cause</a:t>
                      </a:r>
                      <a:endParaRPr lang="en-US" sz="1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pH</a:t>
                      </a:r>
                      <a:endParaRPr lang="en-US" sz="1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CO₂</a:t>
                      </a:r>
                      <a:endParaRPr lang="en-US" sz="1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HCO</a:t>
                      </a: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₃⁻</a:t>
                      </a:r>
                      <a:endParaRPr lang="en-US" sz="1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Compensation</a:t>
                      </a:r>
                      <a:endParaRPr lang="en-US" sz="14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Respiratory Acidosis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CO₂ retention (e.g., COPD, hypoventilation)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7.35–7.45</a:t>
                      </a:r>
                      <a:endParaRPr lang="en-US" sz="1400" b="1" dirty="0" smtClean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↓</a:t>
                      </a:r>
                      <a:endParaRPr lang="en-US" sz="1400" b="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35–45 mmHg</a:t>
                      </a:r>
                      <a:endParaRPr lang="en-US" sz="1400" b="1" dirty="0" smtClean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↑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22–26 </a:t>
                      </a:r>
                      <a:r>
                        <a:rPr lang="en-US" sz="1400" b="1" dirty="0" err="1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mEq</a:t>
                      </a: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/L</a:t>
                      </a:r>
                      <a:endParaRPr lang="en-US" sz="1400" b="1" dirty="0" smtClean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Normal 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Kidneys retain HCO₃⁻</a:t>
                      </a:r>
                      <a:endParaRPr lang="en-US" sz="12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Respiratory Alkalosis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CO₂ loss (e.g., hyperventilation, anxiety)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↑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↓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Normal 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Kidneys excrete HCO₃⁻</a:t>
                      </a:r>
                      <a:endParaRPr lang="en-US" sz="12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8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Metabolic Acidosis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HCO₃⁻ loss or acid gain (e.g., diarrhea, DKA, renal failure)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↓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Normal </a:t>
                      </a:r>
                      <a:r>
                        <a:rPr lang="en-US" sz="1400" b="1" dirty="0" smtClean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↓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Lungs hyperventilate (↓ CO₂)</a:t>
                      </a:r>
                      <a:endParaRPr lang="en-US" sz="12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8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Metabolic Alkalosis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HCO₃⁻ gain or acid loss (e.g., vomiting, diuretics)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↑</a:t>
                      </a:r>
                      <a:endParaRPr lang="en-US" sz="1400" b="1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Normal 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↑</a:t>
                      </a:r>
                      <a:endParaRPr lang="en-US" sz="14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Lungs </a:t>
                      </a:r>
                      <a:r>
                        <a:rPr lang="en-US" sz="1200" b="1" dirty="0" err="1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hypoventilate</a:t>
                      </a:r>
                      <a:r>
                        <a:rPr lang="en-US" sz="1200" b="1" dirty="0"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 (↑ CO₂)</a:t>
                      </a:r>
                      <a:endParaRPr lang="en-US" sz="12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4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rme 3"/>
          <p:cNvSpPr>
            <a:spLocks noGrp="1"/>
          </p:cNvSpPr>
          <p:nvPr>
            <p:ph type="title"/>
          </p:nvPr>
        </p:nvSpPr>
        <p:spPr>
          <a:xfrm>
            <a:off x="428625" y="274638"/>
            <a:ext cx="8258175" cy="7969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fr-CA" b="1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Times New Roman" pitchFamily="18" charset="0"/>
              </a:rPr>
              <a:t>Acid base compensation</a:t>
            </a:r>
          </a:p>
        </p:txBody>
      </p:sp>
      <p:sp>
        <p:nvSpPr>
          <p:cNvPr id="35843" name="Forme 4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63880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fr-CA" dirty="0" smtClean="0">
                <a:latin typeface="Arial" charset="0"/>
                <a:cs typeface="Arial" charset="0"/>
              </a:rPr>
              <a:t>The body </a:t>
            </a:r>
            <a:r>
              <a:rPr lang="fr-CA" dirty="0" err="1" smtClean="0">
                <a:latin typeface="Arial" charset="0"/>
                <a:cs typeface="Arial" charset="0"/>
              </a:rPr>
              <a:t>responds</a:t>
            </a:r>
            <a:r>
              <a:rPr lang="fr-CA" dirty="0" smtClean="0">
                <a:latin typeface="Arial" charset="0"/>
                <a:cs typeface="Arial" charset="0"/>
              </a:rPr>
              <a:t> to </a:t>
            </a:r>
            <a:r>
              <a:rPr lang="fr-CA" dirty="0" err="1" smtClean="0">
                <a:latin typeface="Arial" charset="0"/>
                <a:cs typeface="Arial" charset="0"/>
              </a:rPr>
              <a:t>acid</a:t>
            </a:r>
            <a:r>
              <a:rPr lang="fr-CA" dirty="0" smtClean="0">
                <a:latin typeface="Arial" charset="0"/>
                <a:cs typeface="Arial" charset="0"/>
              </a:rPr>
              <a:t> base </a:t>
            </a:r>
            <a:r>
              <a:rPr lang="fr-CA" dirty="0" err="1" smtClean="0">
                <a:latin typeface="Arial" charset="0"/>
                <a:cs typeface="Arial" charset="0"/>
              </a:rPr>
              <a:t>imbalances</a:t>
            </a:r>
            <a:r>
              <a:rPr lang="fr-CA" dirty="0" smtClean="0">
                <a:latin typeface="Arial" charset="0"/>
                <a:cs typeface="Arial" charset="0"/>
              </a:rPr>
              <a:t> by activation </a:t>
            </a:r>
            <a:r>
              <a:rPr lang="fr-CA" dirty="0" err="1" smtClean="0">
                <a:latin typeface="Arial" charset="0"/>
                <a:cs typeface="Arial" charset="0"/>
              </a:rPr>
              <a:t>compensatory</a:t>
            </a:r>
            <a:r>
              <a:rPr lang="fr-CA" dirty="0" smtClean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mechanisms</a:t>
            </a:r>
            <a:r>
              <a:rPr lang="fr-CA" dirty="0" smtClean="0">
                <a:latin typeface="Arial" charset="0"/>
                <a:cs typeface="Arial" charset="0"/>
              </a:rPr>
              <a:t>.</a:t>
            </a:r>
            <a:r>
              <a:rPr lang="fr-CA" dirty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Compensatory</a:t>
            </a:r>
            <a:r>
              <a:rPr lang="fr-CA" dirty="0" smtClean="0">
                <a:latin typeface="Arial" charset="0"/>
                <a:cs typeface="Arial" charset="0"/>
              </a:rPr>
              <a:t>  </a:t>
            </a:r>
            <a:r>
              <a:rPr lang="fr-CA" dirty="0" err="1" smtClean="0">
                <a:latin typeface="Arial" charset="0"/>
                <a:cs typeface="Arial" charset="0"/>
              </a:rPr>
              <a:t>mechanisms</a:t>
            </a:r>
            <a:r>
              <a:rPr lang="fr-CA" dirty="0" smtClean="0">
                <a:latin typeface="Arial" charset="0"/>
                <a:cs typeface="Arial" charset="0"/>
              </a:rPr>
              <a:t>  </a:t>
            </a:r>
            <a:r>
              <a:rPr lang="fr-CA" dirty="0" err="1" smtClean="0">
                <a:latin typeface="Arial" charset="0"/>
                <a:cs typeface="Arial" charset="0"/>
              </a:rPr>
              <a:t>minimizes</a:t>
            </a:r>
            <a:r>
              <a:rPr lang="fr-CA" dirty="0" smtClean="0">
                <a:latin typeface="Arial" charset="0"/>
                <a:cs typeface="Arial" charset="0"/>
              </a:rPr>
              <a:t> pH changes if the body </a:t>
            </a:r>
            <a:r>
              <a:rPr lang="fr-CA" dirty="0" err="1" smtClean="0">
                <a:latin typeface="Arial" charset="0"/>
                <a:cs typeface="Arial" charset="0"/>
              </a:rPr>
              <a:t>compensates</a:t>
            </a:r>
            <a:r>
              <a:rPr lang="fr-CA" dirty="0" smtClean="0">
                <a:latin typeface="Arial" charset="0"/>
                <a:cs typeface="Arial" charset="0"/>
              </a:rPr>
              <a:t>  </a:t>
            </a:r>
            <a:r>
              <a:rPr lang="fr-CA" dirty="0" err="1" smtClean="0">
                <a:latin typeface="Arial" charset="0"/>
                <a:cs typeface="Arial" charset="0"/>
              </a:rPr>
              <a:t>only</a:t>
            </a:r>
            <a:r>
              <a:rPr lang="fr-CA" dirty="0" smtClean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partially</a:t>
            </a:r>
            <a:r>
              <a:rPr lang="fr-CA" dirty="0" smtClean="0">
                <a:latin typeface="Arial" charset="0"/>
                <a:cs typeface="Arial" charset="0"/>
              </a:rPr>
              <a:t>, pH </a:t>
            </a:r>
            <a:r>
              <a:rPr lang="fr-CA" dirty="0" err="1" smtClean="0">
                <a:latin typeface="Arial" charset="0"/>
                <a:cs typeface="Arial" charset="0"/>
              </a:rPr>
              <a:t>will</a:t>
            </a:r>
            <a:r>
              <a:rPr lang="fr-CA" dirty="0" smtClean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still</a:t>
            </a:r>
            <a:r>
              <a:rPr lang="fr-CA" dirty="0" smtClean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be</a:t>
            </a:r>
            <a:r>
              <a:rPr lang="fr-CA" dirty="0" smtClean="0">
                <a:latin typeface="Arial" charset="0"/>
                <a:cs typeface="Arial" charset="0"/>
              </a:rPr>
              <a:t> </a:t>
            </a:r>
            <a:r>
              <a:rPr lang="fr-CA" dirty="0" err="1" smtClean="0">
                <a:latin typeface="Arial" charset="0"/>
                <a:cs typeface="Arial" charset="0"/>
              </a:rPr>
              <a:t>outside</a:t>
            </a:r>
            <a:r>
              <a:rPr lang="fr-CA" dirty="0" smtClean="0">
                <a:latin typeface="Arial" charset="0"/>
                <a:cs typeface="Arial" charset="0"/>
              </a:rPr>
              <a:t> the normal range.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dirty="0" smtClean="0">
                <a:latin typeface="Arial" charset="0"/>
                <a:cs typeface="Arial" charset="0"/>
              </a:rPr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"/>
            </a:pPr>
            <a:r>
              <a:rPr lang="en-US" dirty="0" smtClean="0"/>
              <a:t>Check </a:t>
            </a:r>
            <a:r>
              <a:rPr lang="en-US" dirty="0"/>
              <a:t>pH</a:t>
            </a:r>
            <a:r>
              <a:rPr lang="en-US" dirty="0" smtClean="0"/>
              <a:t>:</a:t>
            </a:r>
          </a:p>
          <a:p>
            <a:pPr>
              <a:lnSpc>
                <a:spcPct val="150000"/>
              </a:lnSpc>
              <a:buFont typeface="Wingdings" pitchFamily="2" charset="2"/>
              <a:buChar char=""/>
            </a:pPr>
            <a:r>
              <a:rPr lang="en-US" u="sng" dirty="0" smtClean="0"/>
              <a:t>If </a:t>
            </a:r>
            <a:r>
              <a:rPr lang="en-US" u="sng" dirty="0"/>
              <a:t>pH is normal </a:t>
            </a:r>
            <a:r>
              <a:rPr lang="en-US" dirty="0"/>
              <a:t>but </a:t>
            </a:r>
            <a:r>
              <a:rPr lang="en-US" dirty="0" err="1"/>
              <a:t>PaCO</a:t>
            </a:r>
            <a:r>
              <a:rPr lang="en-US" dirty="0"/>
              <a:t>₂ &amp; HCO₃⁻ are abnormal → </a:t>
            </a:r>
            <a:r>
              <a:rPr lang="en-US" u="sng" dirty="0"/>
              <a:t>Fully compensated</a:t>
            </a:r>
          </a:p>
          <a:p>
            <a:pPr>
              <a:lnSpc>
                <a:spcPct val="150000"/>
              </a:lnSpc>
              <a:buFont typeface="Wingdings" pitchFamily="2" charset="2"/>
              <a:buChar char=""/>
            </a:pPr>
            <a:r>
              <a:rPr lang="en-US" u="sng" dirty="0"/>
              <a:t>If pH is abnormal </a:t>
            </a:r>
            <a:r>
              <a:rPr lang="en-US" dirty="0"/>
              <a:t>&amp; both </a:t>
            </a:r>
            <a:r>
              <a:rPr lang="en-US" dirty="0" err="1"/>
              <a:t>PaCO</a:t>
            </a:r>
            <a:r>
              <a:rPr lang="en-US" dirty="0"/>
              <a:t>₂ &amp; HCO₃⁻ are abnormal → </a:t>
            </a:r>
            <a:r>
              <a:rPr lang="en-US" u="sng" dirty="0"/>
              <a:t>Partially compensated</a:t>
            </a:r>
          </a:p>
          <a:p>
            <a:pPr>
              <a:lnSpc>
                <a:spcPct val="150000"/>
              </a:lnSpc>
              <a:buFont typeface="Wingdings" pitchFamily="2" charset="2"/>
              <a:buChar char=""/>
            </a:pPr>
            <a:r>
              <a:rPr lang="en-US" dirty="0"/>
              <a:t>If pH is abnormal &amp; only one of </a:t>
            </a:r>
            <a:r>
              <a:rPr lang="en-US" dirty="0" err="1"/>
              <a:t>PaCO</a:t>
            </a:r>
            <a:r>
              <a:rPr lang="en-US" dirty="0"/>
              <a:t>₂ or HCO₃⁻ is abnormal → Uncompensated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fr-CA" dirty="0" smtClean="0">
              <a:latin typeface="Arial" charset="0"/>
              <a:cs typeface="Arial" charset="0"/>
            </a:endParaRPr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7905C5F-95E7-4A21-AEB3-6580DDD8236A}" type="datetime1">
              <a:rPr lang="fr-FR">
                <a:solidFill>
                  <a:srgbClr val="898989"/>
                </a:solidFill>
                <a:latin typeface="Calibri" charset="0"/>
              </a:rPr>
              <a:pPr eaLnBrk="1" hangingPunct="1"/>
              <a:t>30/05/2025</a:t>
            </a:fld>
            <a:endParaRPr lang="fr-CA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9D07BC5-D8DF-452E-A61F-F894CA61DB97}" type="slidenum">
              <a:rPr lang="fr-CA">
                <a:solidFill>
                  <a:srgbClr val="898989"/>
                </a:solidFill>
                <a:latin typeface="Calibri" charset="0"/>
              </a:rPr>
              <a:pPr eaLnBrk="1" hangingPunct="1"/>
              <a:t>12</a:t>
            </a:fld>
            <a:endParaRPr lang="fr-CA">
              <a:solidFill>
                <a:srgbClr val="898989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7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Rectangle 403"/>
          <p:cNvSpPr txBox="1">
            <a:spLocks noChangeArrowheads="1"/>
          </p:cNvSpPr>
          <p:nvPr/>
        </p:nvSpPr>
        <p:spPr>
          <a:xfrm>
            <a:off x="381000" y="304800"/>
            <a:ext cx="8534400" cy="6172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800" smtClean="0">
                <a:latin typeface="Comic Sans MS" pitchFamily="66" charset="0"/>
                <a:ea typeface="宋体" pitchFamily="2" charset="-122"/>
                <a:cs typeface="Arial" charset="0"/>
              </a:rPr>
              <a:t>Example 1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 smtClean="0">
                <a:latin typeface="Comic Sans MS" pitchFamily="66" charset="0"/>
                <a:ea typeface="宋体" pitchFamily="2" charset="-122"/>
                <a:cs typeface="Arial" charset="0"/>
              </a:rPr>
              <a:t>Jane Doe is a 45-year-old female admitted to the nursing unit with a severe asthma attack. She has been experiencing increasing shortness of breath since admission three hours ago.                                                                                      Her arterial blood gas result is as follows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 b="1" smtClean="0">
                <a:latin typeface="Comic Sans MS" pitchFamily="66" charset="0"/>
                <a:ea typeface="宋体" pitchFamily="2" charset="-122"/>
                <a:cs typeface="Arial" charset="0"/>
              </a:rPr>
              <a:t>                          Clinical Laboratory: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 b="1" smtClean="0">
                <a:latin typeface="Comic Sans MS" pitchFamily="66" charset="0"/>
                <a:ea typeface="宋体" pitchFamily="2" charset="-122"/>
                <a:cs typeface="Arial" charset="0"/>
              </a:rPr>
              <a:t>                                 pH 7.22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 b="1" smtClean="0">
                <a:latin typeface="Comic Sans MS" pitchFamily="66" charset="0"/>
                <a:ea typeface="宋体" pitchFamily="2" charset="-122"/>
                <a:cs typeface="Arial" charset="0"/>
              </a:rPr>
              <a:t>                                 PaCO2 55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 b="1" smtClean="0">
                <a:latin typeface="Comic Sans MS" pitchFamily="66" charset="0"/>
                <a:ea typeface="宋体" pitchFamily="2" charset="-122"/>
                <a:cs typeface="Arial" charset="0"/>
              </a:rPr>
              <a:t>                                 HCO3  25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 b="1" smtClean="0">
                <a:latin typeface="Comic Sans MS" pitchFamily="66" charset="0"/>
                <a:ea typeface="宋体" pitchFamily="2" charset="-122"/>
                <a:cs typeface="Arial" charset="0"/>
              </a:rPr>
              <a:t>   Follow the steps: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r>
              <a:rPr lang="en-US" altLang="en-US" sz="1800" b="1" smtClean="0">
                <a:latin typeface="Comic Sans MS" pitchFamily="66" charset="0"/>
                <a:ea typeface="宋体" pitchFamily="2" charset="-122"/>
                <a:cs typeface="Arial" charset="0"/>
              </a:rPr>
              <a:t>1. Assess the pH. It is low  therefore, we have acidosis.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r>
              <a:rPr lang="en-US" altLang="en-US" sz="1800" b="1" smtClean="0">
                <a:latin typeface="Comic Sans MS" pitchFamily="66" charset="0"/>
                <a:ea typeface="宋体" pitchFamily="2" charset="-122"/>
                <a:cs typeface="Arial" charset="0"/>
              </a:rPr>
              <a:t>2. Assess the PaCO2. It is high and in the opposite direction of the pH.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r>
              <a:rPr lang="en-US" altLang="en-US" sz="1800" b="1" smtClean="0">
                <a:latin typeface="Comic Sans MS" pitchFamily="66" charset="0"/>
                <a:ea typeface="宋体" pitchFamily="2" charset="-122"/>
                <a:cs typeface="Arial" charset="0"/>
              </a:rPr>
              <a:t>3. Assess the HCO3. It has remained within the normal range (22-26).</a:t>
            </a:r>
            <a:endParaRPr lang="en-US" altLang="en-US" sz="180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1800" smtClean="0">
                <a:latin typeface="Comic Sans MS" pitchFamily="66" charset="0"/>
                <a:ea typeface="宋体" pitchFamily="2" charset="-122"/>
                <a:cs typeface="Arial" charset="0"/>
              </a:rPr>
              <a:t> Acidosis is present (decreased pH) with the PaCO2being increased, reflecting a primary respiratory problem. For this patient, we need to improve the ventilation status by providing oxygen therapy, mechanical ventilation or by administering bronchodilators</a:t>
            </a:r>
            <a:r>
              <a:rPr lang="en-US" altLang="en-US" sz="1800" i="1" smtClean="0">
                <a:latin typeface="Comic Sans MS" pitchFamily="66" charset="0"/>
                <a:ea typeface="宋体" pitchFamily="2" charset="-122"/>
                <a:cs typeface="Arial" charset="0"/>
              </a:rPr>
              <a:t>.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5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5" name="Rectangle 409"/>
          <p:cNvSpPr>
            <a:spLocks noGrp="1" noChangeArrowheads="1"/>
          </p:cNvSpPr>
          <p:nvPr>
            <p:ph sz="half" idx="1"/>
          </p:nvPr>
        </p:nvSpPr>
        <p:spPr>
          <a:xfrm>
            <a:off x="381000" y="228600"/>
            <a:ext cx="8153400" cy="6629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Example 2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z="1800" dirty="0" smtClean="0">
                <a:latin typeface="Comic Sans MS" pitchFamily="66" charset="0"/>
                <a:ea typeface="宋体" pitchFamily="2" charset="-122"/>
                <a:cs typeface="Arial" charset="0"/>
              </a:rPr>
              <a:t>John Doe is a 55-year-old male admitted with a recurring bowel obstruction. He has been experiencing intractable vomiting for the last several hours, Here is his arterial blood gas result: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Clinical Laboratory: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 smtClean="0">
                <a:latin typeface="Comic Sans MS" pitchFamily="66" charset="0"/>
                <a:ea typeface="宋体" pitchFamily="2" charset="-122"/>
                <a:cs typeface="Arial" charset="0"/>
              </a:rPr>
              <a:t>                                                  </a:t>
            </a: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pH 7.50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                                   PaCO2 42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                                   HCO3  33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Follow the steps again: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/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1. Assess the </a:t>
            </a:r>
            <a:r>
              <a:rPr lang="en-US" altLang="en-US" sz="1800" b="1" dirty="0" err="1" smtClean="0">
                <a:latin typeface="Comic Sans MS" pitchFamily="66" charset="0"/>
                <a:ea typeface="宋体" pitchFamily="2" charset="-122"/>
                <a:cs typeface="Arial" charset="0"/>
              </a:rPr>
              <a:t>pH.</a:t>
            </a: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 It is high (normal 7.35-7.45), therefore, indicating alkalosis.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2. Assess the PaCO2. It is within the normal range (normal 35-45).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b="1" dirty="0" smtClean="0">
                <a:latin typeface="Comic Sans MS" pitchFamily="66" charset="0"/>
                <a:ea typeface="宋体" pitchFamily="2" charset="-122"/>
                <a:cs typeface="Arial" charset="0"/>
              </a:rPr>
              <a:t>3. Assess the HCO3. It is high (normal 22-26) and moving in the same direction as the </a:t>
            </a:r>
            <a:r>
              <a:rPr lang="en-US" altLang="en-US" sz="1800" b="1" dirty="0" err="1" smtClean="0">
                <a:latin typeface="Comic Sans MS" pitchFamily="66" charset="0"/>
                <a:ea typeface="宋体" pitchFamily="2" charset="-122"/>
                <a:cs typeface="Arial" charset="0"/>
              </a:rPr>
              <a:t>pH.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z="1800" b="1" dirty="0" smtClean="0">
              <a:latin typeface="Comic Sans MS" pitchFamily="66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 smtClean="0">
                <a:latin typeface="Comic Sans MS" pitchFamily="66" charset="0"/>
                <a:ea typeface="宋体" pitchFamily="2" charset="-122"/>
                <a:cs typeface="Arial" charset="0"/>
              </a:rPr>
              <a:t>Alkalosis is present (increased pH) with the HCO3 increased, reflecting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 smtClean="0">
                <a:latin typeface="Comic Sans MS" pitchFamily="66" charset="0"/>
                <a:ea typeface="宋体" pitchFamily="2" charset="-122"/>
                <a:cs typeface="Arial" charset="0"/>
              </a:rPr>
              <a:t>a primary metabolic problem. Treatment of this patient might include administration of I.V. fluids and measures to reduce the excess base.</a:t>
            </a:r>
            <a:endParaRPr lang="en-US" altLang="en-US" sz="1800" dirty="0" smtClean="0"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35843" name="Rectangle 413"/>
          <p:cNvSpPr>
            <a:spLocks noChangeArrowheads="1"/>
          </p:cNvSpPr>
          <p:nvPr/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fld id="{1B0E4FF8-B6C7-42A9-8EE5-3A5C13F70B17}" type="slidenum">
              <a:rPr lang="en-US" altLang="en-US" sz="1400" b="1">
                <a:solidFill>
                  <a:srgbClr val="FFFFFF"/>
                </a:solidFill>
              </a:rPr>
              <a:pPr algn="ctr"/>
              <a:t>14</a:t>
            </a:fld>
            <a:endParaRPr lang="en-US" altLang="en-U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95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8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48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9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9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489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48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48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48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48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8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48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48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48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48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48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48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48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489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89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489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489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489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489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489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489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489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48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48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489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48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48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489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489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+.3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489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489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Lets practice to interpret ABGs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Case No 1 </a:t>
            </a:r>
            <a:r>
              <a:rPr lang="en-US" sz="2000" dirty="0" smtClean="0">
                <a:solidFill>
                  <a:srgbClr val="C00000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A 60-year-old male with COPD presents with dyspnea and </a:t>
            </a:r>
            <a:r>
              <a:rPr lang="en-US" sz="2000" dirty="0" smtClean="0">
                <a:solidFill>
                  <a:srgbClr val="C00000"/>
                </a:solidFill>
              </a:rPr>
              <a:t>drowsiness. ABG results : </a:t>
            </a:r>
            <a:r>
              <a:rPr lang="en-US" sz="2000" dirty="0">
                <a:solidFill>
                  <a:srgbClr val="C00000"/>
                </a:solidFill>
              </a:rPr>
              <a:t>pH 7.28, </a:t>
            </a:r>
            <a:r>
              <a:rPr lang="en-US" sz="2000" dirty="0" err="1">
                <a:solidFill>
                  <a:srgbClr val="C00000"/>
                </a:solidFill>
              </a:rPr>
              <a:t>PaCO</a:t>
            </a:r>
            <a:r>
              <a:rPr lang="en-US" sz="2000" dirty="0">
                <a:solidFill>
                  <a:srgbClr val="C00000"/>
                </a:solidFill>
              </a:rPr>
              <a:t>₂ 55 mmHg, HCO₃⁻ 26 </a:t>
            </a:r>
            <a:r>
              <a:rPr lang="en-US" sz="2000" dirty="0" err="1" smtClean="0">
                <a:solidFill>
                  <a:srgbClr val="C00000"/>
                </a:solidFill>
              </a:rPr>
              <a:t>mEq</a:t>
            </a:r>
            <a:r>
              <a:rPr lang="en-US" sz="2000" dirty="0" smtClean="0">
                <a:solidFill>
                  <a:srgbClr val="C00000"/>
                </a:solidFill>
              </a:rPr>
              <a:t>/L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/>
              <a:t>Answer :</a:t>
            </a:r>
            <a:r>
              <a:rPr lang="en-US" sz="2000" dirty="0"/>
              <a:t>Respiratory Acidosis due to CO₂ retention (hypoventilation</a:t>
            </a:r>
            <a:r>
              <a:rPr lang="en-US" sz="2000" dirty="0" smtClean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Case No 2</a:t>
            </a:r>
            <a:r>
              <a:rPr lang="en-US" sz="2000" dirty="0" smtClean="0">
                <a:solidFill>
                  <a:srgbClr val="C00000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A 25-year-old female with anxiety complains of rapid breathing and </a:t>
            </a:r>
            <a:r>
              <a:rPr lang="en-US" sz="2000" dirty="0" smtClean="0">
                <a:solidFill>
                  <a:srgbClr val="C00000"/>
                </a:solidFill>
              </a:rPr>
              <a:t>dizziness .ABG</a:t>
            </a:r>
            <a:r>
              <a:rPr lang="en-US" sz="2000" dirty="0">
                <a:solidFill>
                  <a:srgbClr val="C00000"/>
                </a:solidFill>
              </a:rPr>
              <a:t>: pH 7.48, </a:t>
            </a:r>
            <a:r>
              <a:rPr lang="en-US" sz="2000" dirty="0" err="1">
                <a:solidFill>
                  <a:srgbClr val="C00000"/>
                </a:solidFill>
              </a:rPr>
              <a:t>PaCO</a:t>
            </a:r>
            <a:r>
              <a:rPr lang="en-US" sz="2000" dirty="0">
                <a:solidFill>
                  <a:srgbClr val="C00000"/>
                </a:solidFill>
              </a:rPr>
              <a:t>₂ 30 mmHg, HCO₃⁻ 23 </a:t>
            </a:r>
            <a:r>
              <a:rPr lang="en-US" sz="2000" dirty="0" err="1" smtClean="0">
                <a:solidFill>
                  <a:srgbClr val="C00000"/>
                </a:solidFill>
              </a:rPr>
              <a:t>mEq</a:t>
            </a:r>
            <a:r>
              <a:rPr lang="en-US" sz="2000" dirty="0" smtClean="0">
                <a:solidFill>
                  <a:srgbClr val="C00000"/>
                </a:solidFill>
              </a:rPr>
              <a:t>/L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Answer : </a:t>
            </a:r>
            <a:r>
              <a:rPr lang="en-US" sz="2000" dirty="0"/>
              <a:t>Respiratory Alkalosis due to hyperventilation.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97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686800" cy="61722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Case No 3</a:t>
            </a:r>
            <a:r>
              <a:rPr lang="en-US" sz="2000" dirty="0" smtClean="0">
                <a:solidFill>
                  <a:srgbClr val="C00000"/>
                </a:solidFill>
              </a:rPr>
              <a:t>: </a:t>
            </a:r>
            <a:r>
              <a:rPr lang="en-US" sz="2000" dirty="0">
                <a:solidFill>
                  <a:srgbClr val="C00000"/>
                </a:solidFill>
              </a:rPr>
              <a:t>A 45-year-old diabetic patient with vomiting and </a:t>
            </a:r>
            <a:r>
              <a:rPr lang="en-US" sz="2000" dirty="0" smtClean="0">
                <a:solidFill>
                  <a:srgbClr val="C00000"/>
                </a:solidFill>
              </a:rPr>
              <a:t>confusion. ABG</a:t>
            </a:r>
            <a:r>
              <a:rPr lang="en-US" sz="2000" dirty="0">
                <a:solidFill>
                  <a:srgbClr val="C00000"/>
                </a:solidFill>
              </a:rPr>
              <a:t>: pH 7.22, </a:t>
            </a:r>
            <a:r>
              <a:rPr lang="en-US" sz="2000" dirty="0" err="1">
                <a:solidFill>
                  <a:srgbClr val="C00000"/>
                </a:solidFill>
              </a:rPr>
              <a:t>PaCO</a:t>
            </a:r>
            <a:r>
              <a:rPr lang="en-US" sz="2000" dirty="0">
                <a:solidFill>
                  <a:srgbClr val="C00000"/>
                </a:solidFill>
              </a:rPr>
              <a:t>₂ 34 mmHg, HCO₃⁻ 15 </a:t>
            </a:r>
            <a:r>
              <a:rPr lang="en-US" sz="2000" dirty="0" err="1" smtClean="0">
                <a:solidFill>
                  <a:srgbClr val="C00000"/>
                </a:solidFill>
              </a:rPr>
              <a:t>mEq</a:t>
            </a:r>
            <a:r>
              <a:rPr lang="en-US" sz="2000" dirty="0" smtClean="0">
                <a:solidFill>
                  <a:srgbClr val="C00000"/>
                </a:solidFill>
              </a:rPr>
              <a:t>/L</a:t>
            </a:r>
          </a:p>
          <a:p>
            <a:endParaRPr lang="en-US" b="1" dirty="0" smtClean="0"/>
          </a:p>
          <a:p>
            <a:pPr marL="0" indent="0">
              <a:buNone/>
            </a:pPr>
            <a:r>
              <a:rPr lang="en-US" sz="2000" dirty="0" smtClean="0"/>
              <a:t>Answer </a:t>
            </a:r>
            <a:r>
              <a:rPr lang="en-US" sz="2000" b="1" dirty="0"/>
              <a:t>:</a:t>
            </a:r>
            <a:r>
              <a:rPr lang="en-US" sz="2000" dirty="0"/>
              <a:t>Metabolic Acidosis </a:t>
            </a:r>
            <a:r>
              <a:rPr lang="en-US" sz="2000" dirty="0" smtClean="0"/>
              <a:t>(</a:t>
            </a:r>
            <a:r>
              <a:rPr lang="en-US" sz="2000" dirty="0" err="1" smtClean="0"/>
              <a:t>eg</a:t>
            </a:r>
            <a:r>
              <a:rPr lang="en-US" sz="2000" dirty="0" smtClean="0"/>
              <a:t>. Diabetic </a:t>
            </a:r>
            <a:r>
              <a:rPr lang="en-US" sz="2000" dirty="0"/>
              <a:t>Ketoacidosis - DKA</a:t>
            </a:r>
            <a:r>
              <a:rPr lang="en-US" sz="2000" dirty="0" smtClean="0"/>
              <a:t>)</a:t>
            </a:r>
          </a:p>
          <a:p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Case No 4: </a:t>
            </a:r>
            <a:r>
              <a:rPr lang="en-US" sz="2000" dirty="0">
                <a:solidFill>
                  <a:srgbClr val="C00000"/>
                </a:solidFill>
              </a:rPr>
              <a:t>A 50-year-old male with severe vomiting for two days.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ABG: pH 7.49, </a:t>
            </a:r>
            <a:r>
              <a:rPr lang="en-US" sz="2000" dirty="0" err="1">
                <a:solidFill>
                  <a:srgbClr val="C00000"/>
                </a:solidFill>
              </a:rPr>
              <a:t>PaCO</a:t>
            </a:r>
            <a:r>
              <a:rPr lang="en-US" sz="2000" dirty="0">
                <a:solidFill>
                  <a:srgbClr val="C00000"/>
                </a:solidFill>
              </a:rPr>
              <a:t>₂ </a:t>
            </a:r>
            <a:r>
              <a:rPr lang="en-US" sz="2000" dirty="0" smtClean="0">
                <a:solidFill>
                  <a:srgbClr val="C00000"/>
                </a:solidFill>
              </a:rPr>
              <a:t>42 </a:t>
            </a:r>
            <a:r>
              <a:rPr lang="en-US" sz="2000" dirty="0">
                <a:solidFill>
                  <a:srgbClr val="C00000"/>
                </a:solidFill>
              </a:rPr>
              <a:t>mmHg, HCO₃⁻ 30 </a:t>
            </a:r>
            <a:r>
              <a:rPr lang="en-US" sz="2000" dirty="0" err="1" smtClean="0">
                <a:solidFill>
                  <a:srgbClr val="C00000"/>
                </a:solidFill>
              </a:rPr>
              <a:t>mEq</a:t>
            </a:r>
            <a:r>
              <a:rPr lang="en-US" sz="2000" dirty="0" smtClean="0">
                <a:solidFill>
                  <a:srgbClr val="C00000"/>
                </a:solidFill>
              </a:rPr>
              <a:t>/L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Answer : Metabolic Alkalosis </a:t>
            </a:r>
            <a:r>
              <a:rPr lang="en-US" sz="2000" dirty="0" smtClean="0"/>
              <a:t>due </a:t>
            </a:r>
            <a:r>
              <a:rPr lang="en-US" sz="2000" dirty="0"/>
              <a:t>to vomiting (loss of stomach acid</a:t>
            </a:r>
            <a:r>
              <a:rPr lang="en-US" sz="2000" dirty="0" smtClean="0"/>
              <a:t>).</a:t>
            </a:r>
          </a:p>
          <a:p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Case No5 : </a:t>
            </a:r>
            <a:r>
              <a:rPr lang="en-US" sz="2000" dirty="0">
                <a:solidFill>
                  <a:srgbClr val="C00000"/>
                </a:solidFill>
              </a:rPr>
              <a:t>A 30-year-old patient with cardiac arrest and no ventilation.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 smtClean="0">
                <a:solidFill>
                  <a:srgbClr val="C00000"/>
                </a:solidFill>
              </a:rPr>
              <a:t>ABG: </a:t>
            </a:r>
            <a:r>
              <a:rPr lang="en-US" sz="2000" dirty="0">
                <a:solidFill>
                  <a:srgbClr val="C00000"/>
                </a:solidFill>
              </a:rPr>
              <a:t>pH 7.10, </a:t>
            </a:r>
            <a:r>
              <a:rPr lang="en-US" sz="2000" dirty="0" err="1">
                <a:solidFill>
                  <a:srgbClr val="C00000"/>
                </a:solidFill>
              </a:rPr>
              <a:t>PaCO</a:t>
            </a:r>
            <a:r>
              <a:rPr lang="en-US" sz="2000" dirty="0">
                <a:solidFill>
                  <a:srgbClr val="C00000"/>
                </a:solidFill>
              </a:rPr>
              <a:t>₂ 60 mmHg, HCO₃⁻ 14 </a:t>
            </a:r>
            <a:r>
              <a:rPr lang="en-US" sz="2000" dirty="0" err="1" smtClean="0">
                <a:solidFill>
                  <a:srgbClr val="C00000"/>
                </a:solidFill>
              </a:rPr>
              <a:t>mEq</a:t>
            </a:r>
            <a:r>
              <a:rPr lang="en-US" sz="2000" dirty="0" smtClean="0">
                <a:solidFill>
                  <a:srgbClr val="C00000"/>
                </a:solidFill>
              </a:rPr>
              <a:t>/L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Answer </a:t>
            </a:r>
            <a:r>
              <a:rPr lang="en-US" sz="2000" dirty="0" smtClean="0"/>
              <a:t>:</a:t>
            </a:r>
            <a:r>
              <a:rPr lang="en-US" sz="2000" b="1" dirty="0"/>
              <a:t> </a:t>
            </a:r>
            <a:r>
              <a:rPr lang="en-US" sz="2000" dirty="0"/>
              <a:t>Mixed Acidosis due to respiratory failure and lactic acidosis.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75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067800" cy="5973763"/>
          </a:xfrm>
        </p:spPr>
        <p:txBody>
          <a:bodyPr/>
          <a:lstStyle/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C00000"/>
                </a:solidFill>
              </a:rPr>
              <a:t>Case No.6 : </a:t>
            </a:r>
            <a:r>
              <a:rPr lang="en-US" sz="2000" dirty="0">
                <a:solidFill>
                  <a:srgbClr val="C00000"/>
                </a:solidFill>
              </a:rPr>
              <a:t>A 60-year-old COPD patient with long-term shortness of breath</a:t>
            </a:r>
            <a:r>
              <a:rPr lang="en-US" sz="2000" dirty="0" smtClean="0">
                <a:solidFill>
                  <a:srgbClr val="C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ABG Results: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C00000"/>
                </a:solidFill>
              </a:rPr>
              <a:t>pH: 7.38 (Normal but on the lower side)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C00000"/>
                </a:solidFill>
              </a:rPr>
              <a:t>PaCO</a:t>
            </a:r>
            <a:r>
              <a:rPr lang="en-US" sz="2000" dirty="0">
                <a:solidFill>
                  <a:srgbClr val="C00000"/>
                </a:solidFill>
              </a:rPr>
              <a:t>₂: 52 mmHg (↑ High)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C00000"/>
                </a:solidFill>
              </a:rPr>
              <a:t>HCO₃⁻: 30 </a:t>
            </a:r>
            <a:r>
              <a:rPr lang="en-US" sz="2000" dirty="0" err="1">
                <a:solidFill>
                  <a:srgbClr val="C00000"/>
                </a:solidFill>
              </a:rPr>
              <a:t>mEq</a:t>
            </a:r>
            <a:r>
              <a:rPr lang="en-US" sz="2000" dirty="0">
                <a:solidFill>
                  <a:srgbClr val="C00000"/>
                </a:solidFill>
              </a:rPr>
              <a:t>/L (↑ High, kidneys compensating</a:t>
            </a:r>
            <a:r>
              <a:rPr lang="en-US" sz="2000" dirty="0" smtClean="0">
                <a:solidFill>
                  <a:srgbClr val="C00000"/>
                </a:solidFill>
              </a:rPr>
              <a:t>)</a:t>
            </a:r>
            <a:endParaRPr lang="en-US" sz="2000" dirty="0"/>
          </a:p>
          <a:p>
            <a:endParaRPr lang="en-US" dirty="0" smtClean="0"/>
          </a:p>
          <a:p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 Answer : </a:t>
            </a:r>
            <a:r>
              <a:rPr lang="en-US" sz="2000" dirty="0"/>
              <a:t>Fully compensated respiratory acidosis (Kidneys retained HCO₃⁻ to balance the high CO₂, keeping pH normal).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82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8458200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587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1345</Words>
  <Application>Microsoft Office PowerPoint</Application>
  <PresentationFormat>On-screen Show (4:3)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SimSun</vt:lpstr>
      <vt:lpstr>Arial</vt:lpstr>
      <vt:lpstr>Arial Black</vt:lpstr>
      <vt:lpstr>Calibri</vt:lpstr>
      <vt:lpstr>Comic Sans MS</vt:lpstr>
      <vt:lpstr>Copperplate Gothic Bold</vt:lpstr>
      <vt:lpstr>Times New Roman</vt:lpstr>
      <vt:lpstr>Wingdings</vt:lpstr>
      <vt:lpstr>Office Theme</vt:lpstr>
      <vt:lpstr>PowerPoint Presentation</vt:lpstr>
      <vt:lpstr>Arterial blood Gas , ABG Monitoring</vt:lpstr>
      <vt:lpstr>PowerPoint Presentation</vt:lpstr>
      <vt:lpstr>Acid Base balance</vt:lpstr>
      <vt:lpstr>Acid Base self regulation</vt:lpstr>
      <vt:lpstr>PowerPoint Presentation</vt:lpstr>
      <vt:lpstr>Getting ABG sample</vt:lpstr>
      <vt:lpstr>PowerPoint Presentation</vt:lpstr>
      <vt:lpstr>PowerPoint Presentation</vt:lpstr>
      <vt:lpstr>Sample Handling &amp; Transport: </vt:lpstr>
      <vt:lpstr>Method interpretation Tic-Tac-Toe</vt:lpstr>
      <vt:lpstr>Acid base compensation</vt:lpstr>
      <vt:lpstr>PowerPoint Presentation</vt:lpstr>
      <vt:lpstr>PowerPoint Presentation</vt:lpstr>
      <vt:lpstr>Lets practice to interpret ABGs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</dc:creator>
  <cp:lastModifiedBy>Asad Computers</cp:lastModifiedBy>
  <cp:revision>22</cp:revision>
  <dcterms:created xsi:type="dcterms:W3CDTF">2006-08-16T00:00:00Z</dcterms:created>
  <dcterms:modified xsi:type="dcterms:W3CDTF">2025-05-30T12:01:33Z</dcterms:modified>
</cp:coreProperties>
</file>